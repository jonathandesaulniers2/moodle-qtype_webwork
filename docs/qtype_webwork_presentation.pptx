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6" r:id="rId12"/>
    <p:sldId id="266" r:id="rId13"/>
    <p:sldId id="267" r:id="rId14"/>
    <p:sldId id="268" r:id="rId15"/>
    <p:sldId id="269" r:id="rId16"/>
    <p:sldId id="275" r:id="rId17"/>
    <p:sldId id="270" r:id="rId18"/>
    <p:sldId id="271" r:id="rId19"/>
    <p:sldId id="272" r:id="rId20"/>
    <p:sldId id="273" r:id="rId21"/>
    <p:sldId id="277" r:id="rId22"/>
    <p:sldId id="274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7297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7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8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01168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-2286000" y="4389120"/>
            <a:ext cx="4572000" cy="4572000"/>
          </a:xfrm>
          <a:prstGeom prst="ellipse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822960" y="1051560"/>
            <a:ext cx="822960" cy="82296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" name="Image 0" descr="/home/claude/pptx_build/icons/puzzle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470" y="1249070"/>
            <a:ext cx="427939" cy="4279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14884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qtype_webwork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30632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WeBWorK dans Moodle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822960" y="37033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500" dirty="0">
                <a:solidFill>
                  <a:srgbClr val="D7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 du plugin et guide complet d’installation</a:t>
            </a:r>
            <a:endParaRPr lang="en-US" sz="15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500" dirty="0">
                <a:solidFill>
                  <a:srgbClr val="D7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(renderer standalone, Caddy, sécurité réseau, configuration Moodle)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5989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Moodle 4.1 · 4.5 · 5.3  •  qtype_webwork  +  qbehaviour_webwork  +  qbank_webworkimport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D’ENSEMBLE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problèmes WeBWorK, nativement dans vos quiz Moodle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0749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77240" y="1920240"/>
            <a:ext cx="640080" cy="64008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6" name="Image 0" descr="/home/claude/pptx_build/icons/book_a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073859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89280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contenu mathématique riche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600200" y="235000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fichiers .pg de WeBWorK permettent des questions générées aléatoirement, avec rétroaction avancée — impossible à reproduire avec les types de question natifs de Moodle.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989320" y="1691640"/>
            <a:ext cx="50749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6217920" y="1920240"/>
            <a:ext cx="640080" cy="64008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1" descr="/home/claude/pptx_build/icons/server_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1539" y="207385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040880" y="189280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serveur de rendu séparé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7040880" y="235000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contenu est produit par un "Standalone Renderer" WeBWorK, hébergé indépendamment de Moodle et interrogé à la demande par le plugin.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657600"/>
            <a:ext cx="50749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777240" y="3886200"/>
            <a:ext cx="640080" cy="64008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2" descr="/home/claude/pptx_build/icons/layers_amb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859" y="403981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00200" y="385876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banques de contenu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600200" y="431596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bibliothèque libre (Open Problem Library) pour du contenu communautaire, et une banque locale privée pour vos propres problèmes.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989320" y="3657600"/>
            <a:ext cx="50749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5"/>
          <p:cNvSpPr/>
          <p:nvPr/>
        </p:nvSpPr>
        <p:spPr>
          <a:xfrm>
            <a:off x="6217920" y="3886200"/>
            <a:ext cx="640080" cy="64008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1" name="Image 3" descr="/home/claude/pptx_build/icons/cogs_amb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1539" y="4039819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040880" y="385876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Intégré au moteur de questions Moodle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7040880" y="431596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Modes de notation différé et interactif, indices, solutions, tentatives multiples — tout configurable par question, comme les autres types Moodle.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Trois briques distinctes, reliées en HTTPS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01752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737360" y="231343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6" name="Image 0" descr="/home/claude/pptx_build/icons/puzz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0979" y="2467051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30175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Moodle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48640" y="3319272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</a:t>
            </a:r>
            <a:endParaRPr lang="en-US" sz="95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qbehaviour_webwork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572000" y="2148840"/>
            <a:ext cx="301752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5760720" y="2313432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1" descr="/home/claude/pptx_build/icons/networ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4339" y="2467051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72000" y="30175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Caddy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72000" y="3319272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proxy HTTPS</a:t>
            </a:r>
            <a:endParaRPr lang="en-US" sz="95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navigation fichiers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8595360" y="2148840"/>
            <a:ext cx="301752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9784080" y="2313432"/>
            <a:ext cx="640080" cy="64008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2" descr="/home/claude/pptx_build/icons/serv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7699" y="2467051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95360" y="30175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Standalone Renderer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595360" y="3319272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Rendu des .pg</a:t>
            </a:r>
            <a:endParaRPr lang="en-US" sz="95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(Docker, port 3000)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3566160" y="2926080"/>
            <a:ext cx="1005840" cy="0"/>
          </a:xfrm>
          <a:prstGeom prst="line">
            <a:avLst/>
          </a:prstGeom>
          <a:noFill/>
          <a:ln w="25400">
            <a:solidFill>
              <a:srgbClr val="5C6B73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0" name="Shape 15"/>
          <p:cNvSpPr/>
          <p:nvPr/>
        </p:nvSpPr>
        <p:spPr>
          <a:xfrm>
            <a:off x="7589520" y="2926080"/>
            <a:ext cx="1005840" cy="0"/>
          </a:xfrm>
          <a:prstGeom prst="line">
            <a:avLst/>
          </a:prstGeom>
          <a:noFill/>
          <a:ln w="25400">
            <a:solidFill>
              <a:srgbClr val="5C6B73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1" name="Text 16"/>
          <p:cNvSpPr/>
          <p:nvPr/>
        </p:nvSpPr>
        <p:spPr>
          <a:xfrm>
            <a:off x="3520440" y="185623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(port 3443)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7360920" y="185623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(interne, docker0)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4572000" y="4160520"/>
            <a:ext cx="30175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4" name="Text 19"/>
          <p:cNvSpPr/>
          <p:nvPr/>
        </p:nvSpPr>
        <p:spPr>
          <a:xfrm>
            <a:off x="4572000" y="42519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Dossiers montés (lecture)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4709160" y="461772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000" dirty="0">
                <a:solidFill>
                  <a:srgbClr val="5C6B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/library-browse/*  →  Library (OPL)</a:t>
            </a:r>
            <a:endParaRPr lang="en-US" sz="10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000" dirty="0">
                <a:solidFill>
                  <a:srgbClr val="5C6B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/private-browse/*  →  private (perso)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080760" y="3703320"/>
            <a:ext cx="0" cy="457200"/>
          </a:xfrm>
          <a:prstGeom prst="line">
            <a:avLst/>
          </a:prstGeom>
          <a:noFill/>
          <a:ln w="19050">
            <a:solidFill>
              <a:srgbClr val="5C6B73"/>
            </a:solidFill>
            <a:prstDash val="dash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7" name="Text 22"/>
          <p:cNvSpPr/>
          <p:nvPr/>
        </p:nvSpPr>
        <p:spPr>
          <a:xfrm>
            <a:off x="548640" y="5989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des navigateurs (étudiants/enseignants) : Moodle relaie tout le rendu côté serveur ; seules les ressources statiques</a:t>
            </a:r>
            <a:endParaRPr lang="en-US" sz="10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(CSS, JS, MathJax, images) sont chargées directement depuis Caddy par le navigateur.</a:t>
            </a:r>
            <a:endParaRPr lang="en-US" sz="1050" dirty="0"/>
          </a:p>
        </p:txBody>
      </p:sp>
      <p:sp>
        <p:nvSpPr>
          <p:cNvPr id="28" name="Text 23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29" name="Text 24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FONCTIONNALITÉS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le plugin apporte à chaque question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77240" y="1920240"/>
            <a:ext cx="594360" cy="59436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6" name="Image 0" descr="/home/claude/pptx_build/icons/random_a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2062886"/>
            <a:ext cx="309067" cy="30906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60604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Graine aléatoire par tentative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77240" y="30632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aléatoire, fixe ou par utilisateur — une variante différente à chaque essai.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224528" y="169164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4453128" y="1920240"/>
            <a:ext cx="594360" cy="59436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1" descr="/home/claude/pptx_build/icons/check_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5774" y="206288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53128" y="260604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Aperçu de réponse (popover)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453128" y="30632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Icône verte/rouge/grise, zoom au double-clic, rendu MathJax dans la bulle.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900416" y="169164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8129016" y="1920240"/>
            <a:ext cx="594360" cy="59436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2" descr="/home/claude/pptx_build/icons/book_amb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1662" y="206288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129016" y="260604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Indices et solutions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8129016" y="30632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Affichage configurable après N tentatives, ou à la fin du test en mode différé.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548640" y="384048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5"/>
          <p:cNvSpPr/>
          <p:nvPr/>
        </p:nvSpPr>
        <p:spPr>
          <a:xfrm>
            <a:off x="777240" y="4069080"/>
            <a:ext cx="594360" cy="59436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1" name="Image 3" descr="/home/claude/pptx_build/icons/cogs_amb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6" y="4211726"/>
            <a:ext cx="309067" cy="309067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77240" y="475488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Verrouillage intelligent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777240" y="52120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Champs bloqués sur bonne réponse, nombre max de tentatives, ou solution révélée.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4224528" y="384048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19"/>
          <p:cNvSpPr/>
          <p:nvPr/>
        </p:nvSpPr>
        <p:spPr>
          <a:xfrm>
            <a:off x="4453128" y="4069080"/>
            <a:ext cx="594360" cy="59436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6" name="Image 4" descr="/home/claude/pptx_build/icons/layers_amb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5774" y="4211726"/>
            <a:ext cx="309067" cy="309067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453128" y="475488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MathJax intégré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4453128" y="52120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Moodle 4.x : le plugin charge son propre MathJax. Moodle 5.3 </a:t>
            </a:r>
            <a:r>
              <a:rPr lang="en-US" sz="100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fr-CA" sz="100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partage le MathJax 4 de Moodle (rendu net, AsciiMath). Aucun réglage requis.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7900416" y="384048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3"/>
          <p:cNvSpPr/>
          <p:nvPr/>
        </p:nvSpPr>
        <p:spPr>
          <a:xfrm>
            <a:off x="8129016" y="4069080"/>
            <a:ext cx="594360" cy="59436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1" name="Image 5" descr="/home/claude/pptx_build/icons/edit_amb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1662" y="4211726"/>
            <a:ext cx="309067" cy="309067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129016" y="475488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Édition en direct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8129016" y="52120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ou modifier un problème .pg directement depuis le formulaire de question.</a:t>
            </a:r>
            <a:endParaRPr lang="en-US" sz="1000" dirty="0"/>
          </a:p>
        </p:txBody>
      </p:sp>
      <p:sp>
        <p:nvSpPr>
          <p:cNvPr id="34" name="Text 2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modes de notation, un seul type de question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5394960" cy="5029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68680" y="17830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 différé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68680" y="221284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(deferredfeedback)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68680" y="2907792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188720" y="2788920"/>
            <a:ext cx="4434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Aperçu neutre (gris) pendant le test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68680" y="356616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188720" y="3447288"/>
            <a:ext cx="4434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correction affichée avant la fin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68680" y="4224528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188720" y="4105656"/>
            <a:ext cx="4434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révélées seulement après soumission du test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68680" y="4882896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188720" y="4764024"/>
            <a:ext cx="4434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note calculée sur la dernière réponse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63640" y="1691640"/>
            <a:ext cx="539496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263640" y="169164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263640" y="2148840"/>
            <a:ext cx="5394960" cy="5029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583680" y="17830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 interactif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6583680" y="221284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(interactive)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583680" y="2907792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903720" y="2788920"/>
            <a:ext cx="4434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Rétroaction immédiate après chaque essai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583680" y="356616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903720" y="3447288"/>
            <a:ext cx="4434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Bouton "Vérifier" actif tant que non verrouillé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83680" y="4224528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903720" y="4105656"/>
            <a:ext cx="4434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Indices/solutions selon le nombre de tentatives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583680" y="4882896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903720" y="4764024"/>
            <a:ext cx="4434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Pénalité par essai incorrect configurable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banques de problèmes, deux vocations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65960"/>
            <a:ext cx="685800" cy="6858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6" name="Image 0" descr="/home/claude/pptx_build/icons/boo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130552"/>
            <a:ext cx="356616" cy="3566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196596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Banque de problèmes libres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737360" y="2395728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Library/...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68680" y="2880360"/>
            <a:ext cx="47548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contenu officiel de l’Open Problem Library (OPL) — communautaire, partagé entre institutions. Navigation en lecture seule.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63640" y="1691640"/>
            <a:ext cx="539496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6537960" y="1965960"/>
            <a:ext cx="685800" cy="6858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1" descr="/home/claude/pptx_build/icons/fold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552" y="2130552"/>
            <a:ext cx="356616" cy="35661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52360" y="196596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Banque de problèmes locaux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7452360" y="2395728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private/...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6583680" y="2880360"/>
            <a:ext cx="47548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contenu personnalisé de l’enseignant — ses propres .pg, créés via la fenêtre d’édition intégrée.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48640" y="4709160"/>
            <a:ext cx="11109960" cy="1051560"/>
          </a:xfrm>
          <a:prstGeom prst="roundRect">
            <a:avLst>
              <a:gd name="adj" fmla="val 6957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777240" y="4910328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8" name="Image 2" descr="/home/claude/pptx_build/icons/warning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859" y="5063947"/>
            <a:ext cx="332842" cy="33284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00200" y="4892040"/>
            <a:ext cx="9784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renderer refuse d’écrire sous « Library/ » (contenu officiel, lecture seule) — toute création de nouveau problème doit utiliser le préfixe « private/ ».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ÉDITION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Créer un nouveau problème sans quitter Moodle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531620" y="1600200"/>
            <a:ext cx="640080" cy="640080"/>
          </a:xfrm>
          <a:prstGeom prst="ellipse">
            <a:avLst/>
          </a:prstGeom>
          <a:solidFill>
            <a:srgbClr val="E8A33D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531620" y="1600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" y="237744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Ouvrir la fenêtre d’édition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315468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Bouton « Créer / éditer un problème » dans le formulaire de question.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72968" y="3246120"/>
            <a:ext cx="192024" cy="0"/>
          </a:xfrm>
          <a:prstGeom prst="line">
            <a:avLst/>
          </a:prstGeom>
          <a:noFill/>
          <a:ln w="19050">
            <a:solidFill>
              <a:srgbClr val="5C6B73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3383280" y="192024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366260" y="1600200"/>
            <a:ext cx="640080" cy="640080"/>
          </a:xfrm>
          <a:prstGeom prst="ellipse">
            <a:avLst/>
          </a:prstGeom>
          <a:solidFill>
            <a:srgbClr val="E8A33D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366260" y="1600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611880" y="237744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Indiquer le chemin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11880" y="315468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chemin existant à modifier, ou un nouveau chemin sous private/ à créer.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07608" y="3246120"/>
            <a:ext cx="192024" cy="0"/>
          </a:xfrm>
          <a:prstGeom prst="line">
            <a:avLst/>
          </a:prstGeom>
          <a:noFill/>
          <a:ln w="19050">
            <a:solidFill>
              <a:srgbClr val="5C6B73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217920" y="192024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7200900" y="1600200"/>
            <a:ext cx="640080" cy="640080"/>
          </a:xfrm>
          <a:prstGeom prst="ellipse">
            <a:avLst/>
          </a:prstGeom>
          <a:solidFill>
            <a:srgbClr val="E8A33D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7200900" y="1600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446520" y="237744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Écrire et prévisualiser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46520" y="315468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Render contents of editor » pour voir le rendu du code PG en direct.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842248" y="3246120"/>
            <a:ext cx="192024" cy="0"/>
          </a:xfrm>
          <a:prstGeom prst="line">
            <a:avLst/>
          </a:prstGeom>
          <a:noFill/>
          <a:ln w="19050">
            <a:solidFill>
              <a:srgbClr val="5C6B73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9052560" y="192024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10035540" y="1600200"/>
            <a:ext cx="640080" cy="640080"/>
          </a:xfrm>
          <a:prstGeom prst="ellipse">
            <a:avLst/>
          </a:prstGeom>
          <a:solidFill>
            <a:srgbClr val="E8A33D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10035540" y="1600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281160" y="237744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Enregistrer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281160" y="315468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Save » écrit le fichier sur le renderer — copier le chemin dans le formulaire.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8640" y="489204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L’interface est celle, native, du renderer WeBWorK — intégrée dans une fenêtre surgissante (iframe). Le certificat auto-signé doit être accepté une première fois dans un onglet séparé.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défense en profondeur, en quatre couches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0241280" cy="1024128"/>
          </a:xfrm>
          <a:prstGeom prst="roundRect">
            <a:avLst>
              <a:gd name="adj" fmla="val 6250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658368" cy="65836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6" name="Image 0" descr="/home/claude/pptx_build/icons/shield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48" y="2032528"/>
            <a:ext cx="342351" cy="34235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801368"/>
            <a:ext cx="8869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HTTPS de bout en bout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645920" y="2176272"/>
            <a:ext cx="8869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communications Moodle ↔ Caddy passent par un certificat TLS.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00100" y="2825496"/>
            <a:ext cx="9738360" cy="1024128"/>
          </a:xfrm>
          <a:prstGeom prst="roundRect">
            <a:avLst>
              <a:gd name="adj" fmla="val 6250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1028700" y="3008376"/>
            <a:ext cx="658368" cy="65836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1" descr="/home/claude/pptx_build/icons/network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6708" y="3166384"/>
            <a:ext cx="342351" cy="34235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97380" y="2935224"/>
            <a:ext cx="8366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Restriction réseau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1897380" y="3310128"/>
            <a:ext cx="8366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renderer n’accepte de connexions que depuis l’IP du serveur Moodle (pare-feu).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1051560" y="3959352"/>
            <a:ext cx="9235440" cy="1024128"/>
          </a:xfrm>
          <a:prstGeom prst="roundRect">
            <a:avLst>
              <a:gd name="adj" fmla="val 6250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1280160" y="4142232"/>
            <a:ext cx="658368" cy="65836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2" descr="/home/claude/pptx_build/icons/key_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8168" y="4300240"/>
            <a:ext cx="342351" cy="34235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2148840" y="40690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Secret partagé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2148840" y="444398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En-tête HTTP requis par Caddy pour la navigation en arborescence (Library/private).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1303020" y="5093208"/>
            <a:ext cx="8732520" cy="1024128"/>
          </a:xfrm>
          <a:prstGeom prst="roundRect">
            <a:avLst>
              <a:gd name="adj" fmla="val 6250"/>
            </a:avLst>
          </a:prstGeom>
          <a:solidFill>
            <a:srgbClr val="3E8E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Shape 15"/>
          <p:cNvSpPr/>
          <p:nvPr/>
        </p:nvSpPr>
        <p:spPr>
          <a:xfrm>
            <a:off x="1531620" y="5276088"/>
            <a:ext cx="658368" cy="65836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1" name="Image 3" descr="/home/claude/pptx_build/icons/lock_s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89628" y="5434096"/>
            <a:ext cx="342351" cy="34235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2400300" y="5202936"/>
            <a:ext cx="7360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Capacités Moodle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2400300" y="5577840"/>
            <a:ext cx="7360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et édition réservées aux enseignants, vérifiées au bon contexte.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548640" y="627278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couche protège un aspect différent — leur combinaison, pas une seule règle, fait la robustesse de l’ensemble.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743200"/>
            <a:ext cx="6400800" cy="64008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822960" y="2377440"/>
            <a:ext cx="1005840" cy="100584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" name="Image 0" descr="/home/claude/pptx_build/icons/docker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362" y="2618842"/>
            <a:ext cx="523037" cy="5230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36118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Guide d’installation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44348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Renderer  →  TeX Live  →  Francisation  →  Caddy  →  Pare-feu  →  Plugin Moodle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— PRÉREQUIS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qu’il faut avant de commencer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0749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77240" y="1920240"/>
            <a:ext cx="640080" cy="64008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6" name="Image 0" descr="/home/claude/pptx_build/icons/server_a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073859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89280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serveur avec Docker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600200" y="235000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Peut être le serveur Moodle lui-même ou une machine séparée sur le même réseau.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989320" y="1691640"/>
            <a:ext cx="50749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6217920" y="1920240"/>
            <a:ext cx="640080" cy="64008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1" descr="/home/claude/pptx_build/icons/network_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1539" y="207385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040880" y="189280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Connectivité réseau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7040880" y="235000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serveur Moodle doit pouvoir joindre ce serveur ; les autres hôtes ne devraient pas le pouvoir.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657600"/>
            <a:ext cx="50749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777240" y="3886200"/>
            <a:ext cx="640080" cy="64008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2" descr="/home/claude/pptx_build/icons/lock_amb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859" y="403981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00200" y="385876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Droits d’administration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600200" y="431596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administrateur sur le serveur Docker (sudo) et sur Moodle (installation de plugins).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989320" y="3657600"/>
            <a:ext cx="50749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5"/>
          <p:cNvSpPr/>
          <p:nvPr/>
        </p:nvSpPr>
        <p:spPr>
          <a:xfrm>
            <a:off x="6217920" y="3886200"/>
            <a:ext cx="640080" cy="64008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1" name="Image 3" descr="/home/claude/pptx_build/icons/book_amb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1539" y="4039819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040880" y="385876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contenu à héberger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7040880" y="431596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bibliothèque libre (webwork-open-problem-library) et/ou vos propres fichiers .pg.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— VERSIONS DE MOODLE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release par version de Moodle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0749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77240" y="1920240"/>
            <a:ext cx="640080" cy="640080"/>
          </a:xfrm>
          <a:prstGeom prst="ellipse">
            <a:avLst/>
          </a:prstGeom>
          <a:solidFill>
            <a:srgbClr val="21295C"/>
          </a:solidFill>
          <a:ln/>
        </p:spPr>
        <p:txBody>
          <a:bodyPr lIns="0" tIns="0" rIns="0" bIns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5.3</a:t>
            </a:r>
          </a:p>
        </p:txBody>
      </p:sp>
      <p:sp>
        <p:nvSpPr>
          <p:cNvPr id="7" name="Text 4"/>
          <p:cNvSpPr/>
          <p:nvPr/>
        </p:nvSpPr>
        <p:spPr>
          <a:xfrm>
            <a:off x="1600200" y="189280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Moodle 5.3  ·  v2.0-moodle53-beta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600200" y="235000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MathJax 4 et Bootstrap 5 partagés avec Moodle. Exige le renderer v1.1 (MathJax 4 local</a:t>
            </a:r>
            <a:r>
              <a:rPr lang="en-US" sz="110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</a:t>
            </a:r>
            <a:r>
              <a:rPr lang="fr-CA" sz="110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Validée sur une vraie instance 5.3 en octobre 2026 (correctifs 2.0.1).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989320" y="1691640"/>
            <a:ext cx="50749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6217920" y="1920240"/>
            <a:ext cx="640080" cy="640080"/>
          </a:xfrm>
          <a:prstGeom prst="ellipse">
            <a:avLst/>
          </a:prstGeom>
          <a:solidFill>
            <a:srgbClr val="21295C"/>
          </a:solidFill>
          <a:ln/>
        </p:spPr>
        <p:txBody>
          <a:bodyPr lIns="0" tIns="0" rIns="0" bIns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4.5</a:t>
            </a:r>
          </a:p>
        </p:txBody>
      </p:sp>
      <p:sp>
        <p:nvSpPr>
          <p:cNvPr id="12" name="Text 8"/>
          <p:cNvSpPr/>
          <p:nvPr/>
        </p:nvSpPr>
        <p:spPr>
          <a:xfrm>
            <a:off x="7040880" y="189280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Moodle 4.5  ·  v1.0-moodle45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7040880" y="235000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validée (4.5.1 et plus). Fonctionne avec toute image du renderer (MathJax v2).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657600"/>
            <a:ext cx="50749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777240" y="3886200"/>
            <a:ext cx="640080" cy="640080"/>
          </a:xfrm>
          <a:prstGeom prst="ellipse">
            <a:avLst/>
          </a:prstGeom>
          <a:solidFill>
            <a:srgbClr val="21295C"/>
          </a:solidFill>
          <a:ln/>
        </p:spPr>
        <p:txBody>
          <a:bodyPr lIns="0" tIns="0" rIns="0" bIns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4.1</a:t>
            </a:r>
          </a:p>
        </p:txBody>
      </p:sp>
      <p:sp>
        <p:nvSpPr>
          <p:cNvPr id="17" name="Text 12"/>
          <p:cNvSpPr/>
          <p:nvPr/>
        </p:nvSpPr>
        <p:spPr>
          <a:xfrm>
            <a:off x="1600200" y="385876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Moodle 4.1  ·  v1.0-moodle41-beta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600200" y="431596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validée. Sans qbank_webworkimport : ni onglet « Importer WeBWorK », ni colonne d’aperçu.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989320" y="3657600"/>
            <a:ext cx="50749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5"/>
          <p:cNvSpPr/>
          <p:nvPr/>
        </p:nvSpPr>
        <p:spPr>
          <a:xfrm>
            <a:off x="6217920" y="3886200"/>
            <a:ext cx="640080" cy="64008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16"/>
          <p:cNvSpPr/>
          <p:nvPr/>
        </p:nvSpPr>
        <p:spPr>
          <a:xfrm>
            <a:off x="7040880" y="385876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Renderer v1.1 : une image pour les trois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7040880" y="431596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MathJax v2 (plugins 4.1 / 4.5) et MathJax 4 (plugin 5.3). Branches MOODLE_401/405/503_STABLE et releases : github.com/JonathanDesaulniers2.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pic>
        <p:nvPicPr>
          <p:cNvPr id="6" name="Image 0" descr="/home/claude/pptx_build/icons/server_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1539" y="4039819"/>
            <a:ext cx="332842" cy="33284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— ÉTAPE 1 SUR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Lancer le Standalone Renderer (Docker)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Récupérer le renderer et la bibliothèque de problèmes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10233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04672" y="2103120"/>
            <a:ext cx="1055217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https://github.com/openwebwork/renderer container/</a:t>
            </a:r>
            <a:b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-C container checkout 1134ffbbf5e6 &amp;&amp; git -C container submodule update --init --recursive</a:t>
            </a:r>
            <a:b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https://github.com/openwebwork/webwork-open-problem-library volumes/webwork-open-problem-library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30175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Construire l’image de base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337560"/>
            <a:ext cx="11064240" cy="685800"/>
          </a:xfrm>
          <a:prstGeom prst="roundRect">
            <a:avLst>
              <a:gd name="adj" fmla="val 8000"/>
            </a:avLst>
          </a:prstGeom>
          <a:solidFill>
            <a:srgbClr val="10233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04672" y="3520440"/>
            <a:ext cx="1055217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build --tag renderer:1.0 ./container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425196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777240" y="4453128"/>
            <a:ext cx="594360" cy="59436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0" descr="/home/claude/pptx_build/icons/layers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4595774"/>
            <a:ext cx="309067" cy="309067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554480" y="4434840"/>
            <a:ext cx="9784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L’image de base seule ne suffit pas pour ce guide : les deux prochaines étapes y ajoutent TeX Live (graphiques/TikZ) et la francisation, avant de lancer le conteneur final.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— ÉTAPE 2 SUR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 Live : graphiques et figures TikZ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L’image officielle du renderer n’inclut PAS TeX Live (pour rester légère) -- sans lui, les problèmes utilisant PGtikz.pl / PGlateximage.pl échouent silencieusement à générer leurs images.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21945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Dockerfile.intl (dépôt webwork-renderer) — TeX Live et correctifs d’intégration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11064240" cy="2286000"/>
          </a:xfrm>
          <a:prstGeom prst="roundRect">
            <a:avLst>
              <a:gd name="adj" fmla="val 2400"/>
            </a:avLst>
          </a:prstGeom>
          <a:solidFill>
            <a:srgbClr val="10233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04672" y="2697480"/>
            <a:ext cx="10552176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renderer:1.0
RUN apt-get update &amp;&amp; apt-get install -y --no-install-recommends \
      texlive-latex-base texlive-latex-recommended texlive-latex-extra \
      texlive-pictures texlive-fonts-recommended cm-super dvisvgm \
  &amp;&amp; apt-get clean &amp;&amp; rm -fr /var/lib/apt/lists/* /tmp/*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49834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texlive-pictures fournit pgf/tikz ; dvisvgm convertit le .dvi généré en .svg (déjà utilisé par PG). Construit avec </a:t>
            </a:r>
            <a:r>
              <a:rPr lang="en-US" sz="1050" i="1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docker build --no-cache --tag webwork-renderer:intl --file Dockerfile.intl 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— ÉTAPE 3 SUR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Francisation complète du renderer (fr-CA)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5394960" cy="5029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68680" y="16916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Catalogue fr-CA.po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12140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Correct, Erroné, Indice, Solution…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68680" y="2816352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170432" y="269748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standard maketext/.po de WeBWorK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68680" y="3383280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170432" y="3264408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Respecte le paramètre "language" envoyé par Moodle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68680" y="3950208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170432" y="3831336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Bascule en anglais si demandé (bilingue)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68680" y="4517136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170432" y="4398264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~160 chaînes (PG) + ~60 du renderer (fr-CA.renderer.po)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63640" y="1600200"/>
            <a:ext cx="539496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263640" y="160020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263640" y="2057400"/>
            <a:ext cx="5394960" cy="5029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583680" y="16916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Correctif Value/Context.pm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83680" y="212140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"Variable non définie", "Parenthèse..."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583680" y="2816352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885432" y="269748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bas niveau du Parser/Value, jamais traduisibles nativement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583680" y="3383280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885432" y="3264408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~185 messages ajoutés à $context-&gt;{error}{msg}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83680" y="3950208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885432" y="3831336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Toujours en français, quel que soit "language" (non bilingue)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583680" y="4517136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885432" y="4398264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Appliqué à la construction de l’image (patch_context.pl)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93776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CA" sz="1150" b="1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Construire la variante fr (par-dessus l’image intl) puis lancer le conteneur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5230368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10233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804672" y="5413248"/>
            <a:ext cx="1055217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build --no-cache --tag webwork-renderer:fr --file Dockerfile.fr .   (ou l’image intl seule, en anglais)</a:t>
            </a: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sudo docker run -d --name standalone-renderer --restart unless-stopped \
  --publish 3000:3000 --mount ... --</a:t>
            </a:r>
            <a:r>
              <a:rPr lang="en-US" sz="105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 MOJO_MODE=development  webwork-renderer:fr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— ÉTAPE 4 SUR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Caddy : HTTPS et navigation de fichiers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Caddyfile — reverse proxy + routes de navigation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1965960"/>
          </a:xfrm>
          <a:prstGeom prst="roundRect">
            <a:avLst>
              <a:gd name="adj" fmla="val 2791"/>
            </a:avLst>
          </a:prstGeom>
          <a:solidFill>
            <a:srgbClr val="10233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04672" y="2103120"/>
            <a:ext cx="10552176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:443 {
  tls /etc/caddy/webwork.crt /etc/caddy/webwork.key</a:t>
            </a:r>
            <a:r>
              <a:rPr lang="en-US" sz="105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fr-CA" sz="105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header /pg_files/* Cache-Control no-cache   # JS corrigés : même nom de fichier</a:t>
            </a: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  handle_path /library-browse/* { root * /srv/library ; file_server browse }
  handle_path /private-browse/* { root * /srv/private ; file_server browse }
  reverse_proxy host.docker.internal:3000</a:t>
            </a:r>
            <a:endParaRPr lang="en-US" sz="10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4069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Lancer Caddy avec les montages correspondants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389120"/>
            <a:ext cx="11064240" cy="1737360"/>
          </a:xfrm>
          <a:prstGeom prst="roundRect">
            <a:avLst>
              <a:gd name="adj" fmla="val 3158"/>
            </a:avLst>
          </a:prstGeom>
          <a:solidFill>
            <a:srgbClr val="10233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04672" y="4572000"/>
            <a:ext cx="1055217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docker run -d --name webwork-caddy --restart unless-stopped \
  --add-host=host.docker.internal:host-gateway -p 3443:443 \
  -v $(pwd)/Caddyfile:/etc/caddy/Caddyfile \
  -v $(pwd)/OpenProblemLibrary:/srv/library:ro -v $(pwd)/private:/srv/private:ro \
  -v caddy_data:/data -v caddy_config:/config  caddy:2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COMPLÉMENT — SÉCURITÉ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Certificats HTTPS : deux approches selon le contexte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5394960" cy="5029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68680" y="16916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A. Développement local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12140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autorité de certification (CA) maison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68680" y="2816352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170432" y="269748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openssl : créer une CA une seule fois, puis un certificat signé par elle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68680" y="3383280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170432" y="3264408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Installer ca.crt comme autorité de confiance, sur chaque poste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68680" y="3950208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170432" y="3831336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Survit aux reconstructions Docker (valide 10 ans)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68680" y="4517136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170432" y="4398264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Inadapté aux appareils personnels des étudiants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63640" y="1600200"/>
            <a:ext cx="539496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263640" y="160020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263640" y="2057400"/>
            <a:ext cx="5394960" cy="5029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583680" y="16916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 Production (vrais étudiants)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83680" y="212140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Let’s Encrypt via validation DNS-01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583680" y="2816352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885432" y="269748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installation requise, sur aucun appareil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583680" y="3383280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885432" y="3264408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Nécessite un nom de domaine + accès à l’API DNS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83680" y="3950208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885432" y="3831336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serveur reste fermé à internet (validation DNS, pas HTTP)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583680" y="4517136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885432" y="4398264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Renouvellement automatique par Caddy, pour toujours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93776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 A — les trois commandes clés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5230368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10233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804672" y="5413248"/>
            <a:ext cx="1055217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openssl req -x509 -new -nodes -key ca.key -days 3650 -out ca.crt \  -subj "/CN=WebWorK Renderer CA"
openssl x509 -req -in webwork.csr -CA ca.crt -CAkey ca.key \
  -CAcreateserial -out webwork.crt -days 3650   # puis installer ca.crt sur chaque poste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— ÉTAPE 5 SUR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Pare-feu : restreindre l’accès au serveur Moodle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Autoriser uniquement l’IP de Moodle sur le port 3443 (ufw)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1600200"/>
          </a:xfrm>
          <a:prstGeom prst="roundRect">
            <a:avLst>
              <a:gd name="adj" fmla="val 3429"/>
            </a:avLst>
          </a:prstGeom>
          <a:solidFill>
            <a:srgbClr val="10233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04672" y="2103120"/>
            <a:ext cx="10552176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ufw allow OpenSSH                                    # ne jamais oublier !
sudo ufw allow from &lt;IP_MOODLE&gt; to any port 3443
sudo ufw deny 3443
sudo ufw enable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3703320"/>
            <a:ext cx="11109960" cy="2103120"/>
          </a:xfrm>
          <a:prstGeom prst="roundRect">
            <a:avLst>
              <a:gd name="adj" fmla="val 3478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822960" y="3931920"/>
            <a:ext cx="685800" cy="68580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0" descr="/home/claude/pptx_build/icons/warning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096512"/>
            <a:ext cx="356616" cy="35661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737360" y="391363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Piège fréquent : ufw + Docker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4315968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Activer ufw peut couper la communication interne entre Caddy et le renderer (erreur 502, « i/o timeout » vers l’IP du pont Docker). Deux réglages sont généralement nécessaires :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1737360" y="4846320"/>
            <a:ext cx="9509760" cy="868680"/>
          </a:xfrm>
          <a:prstGeom prst="roundRect">
            <a:avLst>
              <a:gd name="adj" fmla="val 6316"/>
            </a:avLst>
          </a:prstGeom>
          <a:solidFill>
            <a:srgbClr val="10233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1993392" y="5029200"/>
            <a:ext cx="899769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sed -i 's/DEFAULT_FORWARD_POLICY="DROP"/DEFAULT_FORWARD_POLICY="ACCEPT"/' /etc/default/ufw
sudo ufw allow from 172.17.0.0/16 to any port 3000  &amp;&amp;  sudo ufw reload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— ÉTAPE 6 SUR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Installer et configurer le plugin Moodle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1984248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du site → Plugins → Installer des plugins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578608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48640" y="25786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2551176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Téléverser les .zip de la release de votre Moodle (4.1, 4.5 ou 5.3) : qtype_webwork, puis qbehaviour_webwork et qbank_webworkimport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145536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314553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118104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Confirmer la mise à jour de la base de données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712464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8640" y="371246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05840" y="3685032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Purger tous les caches (Développement → Purger les caches)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806440" y="16002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Réglages (Types de question → WeBWorK)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806440" y="2011680"/>
            <a:ext cx="557784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989320" y="21488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du serveur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366760" y="214884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https://IP_CADDY:3443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989320" y="26060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 auto-signé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366760" y="260604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Activé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989320" y="30632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partagé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366760" y="306324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valeur longue aléatoire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989320" y="35204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Préfixe bibliothèque libre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366760" y="352044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989320" y="39776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Préfixe banque locale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366760" y="397764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89320" y="44348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Langue des messages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366760" y="443484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fr-CA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5074920"/>
            <a:ext cx="10835640" cy="1188720"/>
          </a:xfrm>
          <a:prstGeom prst="roundRect">
            <a:avLst>
              <a:gd name="adj" fmla="val 6154"/>
            </a:avLst>
          </a:prstGeom>
          <a:solidFill>
            <a:srgbClr val="F5F7FA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777240" y="5230368"/>
            <a:ext cx="594360" cy="59436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3" name="Image 0" descr="/home/claude/pptx_build/icons/check_a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5373014"/>
            <a:ext cx="309067" cy="309067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1554480" y="5230368"/>
            <a:ext cx="9601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 finale : ouvrir une question WeBWorK existante et confirmer qu’elle s’affiche et se corrige correctement, avec les messages en français et le rendu MathJax visible (voir aussi le réglage « Source de MathJax », local par défaut, plus fiable qu’un CDN externe).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FONCTIONNALITÉ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Aide à la saisie mathématique, par question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 la case « Aide à la saisie mathématique » du formulaire de question, trois choix possibles 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52044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3520440" cy="5029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77240" y="2212848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MathView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2633472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défaut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77240" y="3364992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024128" y="3264408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Barre d’outils par catégories (Base, Exposants, Trigonométrie...)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77240" y="3986784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1024128" y="3886200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fr-CA" sz="95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Traduit en français (fr-CA) ; intervalles québécois ]a,b] affichés et insérés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77240" y="4608576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1024128" y="4507992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Nécessite patch_mathview.pl + patch_renderproblem.pl côté renderer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434840" y="2148840"/>
            <a:ext cx="352044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434840" y="214884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434840" y="2606040"/>
            <a:ext cx="3520440" cy="5029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663440" y="2212848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MathQuill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663440" y="2633472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Édition directe façon calculatrice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63440" y="3364992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910328" y="3264408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Saisie au clavier avec rendu visuel immédiat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663440" y="3986784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4910328" y="3886200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 nativement, quelques correctifs d’intégration Moodle requis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663440" y="4608576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4910328" y="4507992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Reste en anglais (pas de fichier de locale distinct à traduire)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321040" y="2148840"/>
            <a:ext cx="352044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8321040" y="214884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8321040" y="2606040"/>
            <a:ext cx="3520440" cy="5029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8549640" y="2212848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Aucun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549640" y="2633472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 texte brut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549640" y="3364992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8796528" y="3264408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éditeur visuel superposé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549640" y="3986784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8796528" y="3886200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Utile si MathQuill/MathView gênent certains étudiants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549640" y="4608576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8796528" y="4507992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Comportement identique à avant l’ajout de cette fonctionnalité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48640" y="553212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777240" y="5669280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0" name="Image 0" descr="/home/claude/pptx_build/icons/warning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5789981"/>
            <a:ext cx="261518" cy="261518"/>
          </a:xfrm>
          <a:prstGeom prst="rect">
            <a:avLst/>
          </a:prstGeom>
        </p:spPr>
      </p:pic>
      <p:sp>
        <p:nvSpPr>
          <p:cNvPr id="41" name="Text 38"/>
          <p:cNvSpPr/>
          <p:nvPr/>
        </p:nvSpPr>
        <p:spPr>
          <a:xfrm>
            <a:off x="1417320" y="562356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choix se transmet au renderer via le paramètre "entryAssist" du render-api — nécessite patch_renderproblem.pl (le renderer standalone calculait "useMathQuill" mais ne transmettait jamais "useMathView" à PG.pm, qui le supporte pourtant déjà).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&amp; LIMITES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Créer une question, et ce qu’il reste à surveiller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Créer une question WeBWorK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87552" y="196596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 de questions → Créer une nouvelle question → WeBWorK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560320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4864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87552" y="25146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un fichier via la banque libre ou locale (ou taper le chemin)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108960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3108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87552" y="306324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Régler les indices/solutions, la graine (le mode différé/interactif vient du test)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8640" y="36576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87552" y="361188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Enregistrer — la question est prête à être ajoutée à un quiz</a:t>
            </a:r>
            <a:endParaRPr lang="en-US" sz="1100" dirty="0"/>
          </a:p>
        </p:txBody>
      </p:sp>
      <p:sp>
        <p:nvSpPr>
          <p:cNvPr id="9914" name="Shape 12"/>
          <p:cNvSpPr/>
          <p:nvPr/>
        </p:nvSpPr>
        <p:spPr>
          <a:xfrm>
            <a:off x="548640" y="4206240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15" name="Text 13"/>
          <p:cNvSpPr/>
          <p:nvPr/>
        </p:nvSpPr>
        <p:spPr>
          <a:xfrm>
            <a:off x="548640" y="42062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916" name="Text 14"/>
          <p:cNvSpPr/>
          <p:nvPr/>
        </p:nvSpPr>
        <p:spPr>
          <a:xfrm>
            <a:off x="987552" y="416052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 de débogage sous chaque question corrigée (enseignants) : graine WeBWorK + historique des réponses</a:t>
            </a:r>
            <a:endParaRPr lang="en-US" sz="1100" dirty="0"/>
          </a:p>
        </p:txBody>
      </p:sp>
      <p:sp>
        <p:nvSpPr>
          <p:cNvPr id="89914" name="Shape 12"/>
          <p:cNvSpPr/>
          <p:nvPr/>
        </p:nvSpPr>
        <p:spPr>
          <a:xfrm>
            <a:off x="548640" y="4754880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915" name="Text 13"/>
          <p:cNvSpPr/>
          <p:nvPr/>
        </p:nvSpPr>
        <p:spPr>
          <a:xfrm>
            <a:off x="548640" y="4754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8916" name="Text 14"/>
          <p:cNvSpPr/>
          <p:nvPr/>
        </p:nvSpPr>
        <p:spPr>
          <a:xfrm>
            <a:off x="987552" y="470916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Importation en lot : onglet « Importer WeBWorK » → un dossier entier devient une catégorie de questions</a:t>
            </a:r>
            <a:endParaRPr lang="en-US" sz="1100" dirty="0"/>
          </a:p>
        </p:txBody>
      </p:sp>
      <p:sp>
        <p:nvSpPr>
          <p:cNvPr id="789914" name="Shape 12"/>
          <p:cNvSpPr/>
          <p:nvPr/>
        </p:nvSpPr>
        <p:spPr>
          <a:xfrm>
            <a:off x="548640" y="5303520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8915" name="Text 13"/>
          <p:cNvSpPr/>
          <p:nvPr/>
        </p:nvSpPr>
        <p:spPr>
          <a:xfrm>
            <a:off x="548640" y="53035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78916" name="Text 14"/>
          <p:cNvSpPr/>
          <p:nvPr/>
        </p:nvSpPr>
        <p:spPr>
          <a:xfrm>
            <a:off x="987552" y="5257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 de .pg par archive ZIP (administrateurs, désactivé par défaut) directement dans la banque privée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09360" y="160020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connues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309360" y="2011680"/>
            <a:ext cx="5074920" cy="379476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492240" y="2194560"/>
            <a:ext cx="411480" cy="41148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0" descr="/home/claude/pptx_build/icons/warning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0995" y="2293315"/>
            <a:ext cx="213970" cy="21397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7040880" y="2148840"/>
            <a:ext cx="4160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~185 messages bas niveau du Parser restent toujours en français, même si Moodle demande "language=en" ; les messages propres à certains fichiers macro sont traduits au fur et à mesure qu’ils sont rencontrés en usage réel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492240" y="3090672"/>
            <a:ext cx="411480" cy="41148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3" name="Image 1" descr="/home/claude/pptx_build/icons/warning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0995" y="3189427"/>
            <a:ext cx="213970" cy="21397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7040880" y="3044952"/>
            <a:ext cx="4160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/render-api reste protégé au niveau réseau uniquement, pas par le secret partagé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6492240" y="3986784"/>
            <a:ext cx="411480" cy="41148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6" name="Image 2" descr="/home/claude/pptx_build/icons/warning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0995" y="4085539"/>
            <a:ext cx="213970" cy="21397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7040880" y="3941064"/>
            <a:ext cx="4160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fenêtre d’édition exige d’accepter le certificat auto-signé manuellement, une première fois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6492240" y="4882896"/>
            <a:ext cx="411480" cy="41148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9" name="Image 3" descr="/home/claude/pptx_build/icons/warning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0995" y="4981651"/>
            <a:ext cx="213970" cy="213970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040880" y="4837176"/>
            <a:ext cx="4160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GraphTool, TikZ/LaTeXImage et les bulles de prévisualisation avec script embarqué sont maintenant confirmés fonctionnels ; d’autres widgets JS spécialisés (applets Java, macros peu courantes) restent à valider au cas par cas</a:t>
            </a:r>
            <a:endParaRPr lang="en-US" sz="1050" dirty="0"/>
          </a:p>
        </p:txBody>
      </p:sp>
      <p:sp>
        <p:nvSpPr>
          <p:cNvPr id="31" name="Text 2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32" name="Text 26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MOODLE 5.3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CA" sz="3200" b="1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l’essai réel a corrigé (octobre 2026)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77240" y="1920240"/>
            <a:ext cx="594360" cy="59436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777240" y="260604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Formules MathJax 4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77240" y="30632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fr-CA" sz="100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 écrit ses formules au format de MathJax 2 : converties en \(...\), elles s’affichent.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224528" y="169164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4453128" y="1920240"/>
            <a:ext cx="594360" cy="59436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1" descr="/home/claude/pptx_build/icons/check_a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5774" y="206288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53128" y="260604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Bulles de prévisualisation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453128" y="30632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fr-CA" sz="100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Réponses textuelles (« A ») rendues ; zoom au double-clic sans touche Alt.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900416" y="169164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8129016" y="1920240"/>
            <a:ext cx="594360" cy="59436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2" descr="/home/claude/pptx_build/icons/book_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1662" y="206288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129016" y="260604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CA" sz="1300" b="1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Français de bout en bout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8129016" y="30632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fr-CA" sz="100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de score traduit (catalogue du renderer) et masqué en mode différé.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548640" y="384048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5"/>
          <p:cNvSpPr/>
          <p:nvPr/>
        </p:nvSpPr>
        <p:spPr>
          <a:xfrm>
            <a:off x="777240" y="4069080"/>
            <a:ext cx="594360" cy="59436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1" name="Image 3" descr="/home/claude/pptx_build/icons/cogs_amb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886" y="4211726"/>
            <a:ext cx="309067" cy="309067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77240" y="475488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Rendu et scripts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777240" y="52120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fr-CA" sz="100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 CHTML plus nette ; jQuery UI installé à côté de RequireJS.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4224528" y="384048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19"/>
          <p:cNvSpPr/>
          <p:nvPr/>
        </p:nvSpPr>
        <p:spPr>
          <a:xfrm>
            <a:off x="4453128" y="4069080"/>
            <a:ext cx="594360" cy="59436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0"/>
          <p:cNvSpPr/>
          <p:nvPr/>
        </p:nvSpPr>
        <p:spPr>
          <a:xfrm>
            <a:off x="4453128" y="475488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Cache maîtrisé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4453128" y="52120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fr-CA" sz="100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Caddy envoie Cache-Control no-cache : un renderer reconstruit est visible tout de suite.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7900416" y="384048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3"/>
          <p:cNvSpPr/>
          <p:nvPr/>
        </p:nvSpPr>
        <p:spPr>
          <a:xfrm>
            <a:off x="8129016" y="4069080"/>
            <a:ext cx="594360" cy="59436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1" name="Image 5" descr="/home/claude/pptx_build/icons/edit_amb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1662" y="4211726"/>
            <a:ext cx="309067" cy="309067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129016" y="475488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MathView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8129016" y="52120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fr-CA" sz="100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Aperçu rendu (AsciiMath), section active affichée, intervalles ]a,b] insérés.</a:t>
            </a:r>
            <a:endParaRPr lang="en-US" sz="1000" dirty="0"/>
          </a:p>
        </p:txBody>
      </p:sp>
      <p:sp>
        <p:nvSpPr>
          <p:cNvPr id="34" name="Text 2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pic>
        <p:nvPicPr>
          <p:cNvPr id="6" name="Image 0" descr="/home/claude/pptx_build/icons/random_amb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5774" y="4211726"/>
            <a:ext cx="309067" cy="309067"/>
          </a:xfrm>
          <a:prstGeom prst="rect">
            <a:avLst/>
          </a:prstGeom>
        </p:spPr>
      </p:pic>
      <p:pic>
        <p:nvPicPr>
          <p:cNvPr id="26" name="Image 4" descr="/home/claude/pptx_build/icons/layers_amb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9886" y="2062886"/>
            <a:ext cx="309067" cy="309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3833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3200400"/>
            <a:ext cx="5943600" cy="59436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-2743200" y="-2743200"/>
            <a:ext cx="5029200" cy="5029200"/>
          </a:xfrm>
          <a:prstGeom prst="ellipse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591556" y="1920240"/>
            <a:ext cx="1005840" cy="100584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" name="Image 0" descr="/home/claude/pptx_build/icons/check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2958" y="2161642"/>
            <a:ext cx="523037" cy="52303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3108960"/>
            <a:ext cx="12188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!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0" y="3886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Questions, retours et rapports de bugs sont les bienvenus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0" y="443484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github.com/JonathanDesaulniers2/moodle-qtype_webwork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0" y="603504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 +  qbehaviour_webwork  +  qbank_webworkimport  —  Moodle 4.1 · 4.5 · 5.3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2988</Words>
  <Application>Microsoft Office PowerPoint</Application>
  <PresentationFormat>Grand écran</PresentationFormat>
  <Paragraphs>325</Paragraphs>
  <Slides>22</Slides>
  <Notes>20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Cambria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Jonathan Desaulniers</cp:lastModifiedBy>
  <cp:revision>3</cp:revision>
  <dcterms:created xsi:type="dcterms:W3CDTF">2026-07-27T02:55:04Z</dcterms:created>
  <dcterms:modified xsi:type="dcterms:W3CDTF">2026-10-12T16:47:38Z</dcterms:modified>
</cp:coreProperties>
</file>